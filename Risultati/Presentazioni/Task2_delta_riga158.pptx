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3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033" autoAdjust="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551717-2596-4457-9194-7AC0DCAC49F1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15F4FE-E259-4D0F-B379-AD2F71B92C8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55347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0FA9005B-2A59-AA8E-9AE1-7B75B5F9274F}"/>
              </a:ext>
            </a:extLst>
          </p:cNvPr>
          <p:cNvSpPr/>
          <p:nvPr userDrawn="1"/>
        </p:nvSpPr>
        <p:spPr>
          <a:xfrm>
            <a:off x="0" y="589936"/>
            <a:ext cx="12192000" cy="6268064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8" name="Titolo 1">
            <a:extLst>
              <a:ext uri="{FF2B5EF4-FFF2-40B4-BE49-F238E27FC236}">
                <a16:creationId xmlns:a16="http://schemas.microsoft.com/office/drawing/2014/main" id="{BB187E91-8E1B-0244-473B-366A531478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0024" y="1113126"/>
            <a:ext cx="9993745" cy="2387600"/>
          </a:xfrm>
        </p:spPr>
        <p:txBody>
          <a:bodyPr/>
          <a:lstStyle>
            <a:lvl1pPr algn="ctr">
              <a:defRPr sz="5400"/>
            </a:lvl1pPr>
          </a:lstStyle>
          <a:p>
            <a:endParaRPr lang="it-IT" dirty="0">
              <a:latin typeface="Catamaran" panose="020B0604020202020204" charset="0"/>
              <a:cs typeface="Catamaran" panose="020B0604020202020204" charset="0"/>
            </a:endParaRPr>
          </a:p>
        </p:txBody>
      </p:sp>
      <p:sp>
        <p:nvSpPr>
          <p:cNvPr id="9" name="Sottotitolo 2">
            <a:extLst>
              <a:ext uri="{FF2B5EF4-FFF2-40B4-BE49-F238E27FC236}">
                <a16:creationId xmlns:a16="http://schemas.microsoft.com/office/drawing/2014/main" id="{1143CC53-66B3-D2F6-34D6-A9420838EC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8182" y="3701843"/>
            <a:ext cx="7557431" cy="2763611"/>
          </a:xfrm>
        </p:spPr>
        <p:txBody>
          <a:bodyPr>
            <a:normAutofit fontScale="85000" lnSpcReduction="20000"/>
          </a:bodyPr>
          <a:lstStyle>
            <a:lvl1pPr algn="ctr">
              <a:buNone/>
              <a:defRPr/>
            </a:lvl1pPr>
          </a:lstStyle>
          <a:p>
            <a:pPr algn="l"/>
            <a:endParaRPr lang="it-IT" dirty="0">
              <a:latin typeface="Catamaran" panose="020B0604020202020204" charset="0"/>
              <a:cs typeface="Catamaran" panose="020B0604020202020204" charset="0"/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450EB309-34E9-F7EB-D07D-D21DD2AAD42F}"/>
              </a:ext>
            </a:extLst>
          </p:cNvPr>
          <p:cNvSpPr/>
          <p:nvPr userDrawn="1"/>
        </p:nvSpPr>
        <p:spPr>
          <a:xfrm>
            <a:off x="0" y="0"/>
            <a:ext cx="12192000" cy="589935"/>
          </a:xfrm>
          <a:prstGeom prst="rect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48284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riangolo rettangolo 10">
            <a:extLst>
              <a:ext uri="{FF2B5EF4-FFF2-40B4-BE49-F238E27FC236}">
                <a16:creationId xmlns:a16="http://schemas.microsoft.com/office/drawing/2014/main" id="{F6450C9E-BD45-B287-6533-8DFCACD0E26A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04C6F734-0FED-D02A-60A4-E77C8FD1C1F1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3" name="Titolo 1">
            <a:extLst>
              <a:ext uri="{FF2B5EF4-FFF2-40B4-BE49-F238E27FC236}">
                <a16:creationId xmlns:a16="http://schemas.microsoft.com/office/drawing/2014/main" id="{FC68E3CD-1556-162D-015A-C68F2FBFD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07721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  <p:sp>
        <p:nvSpPr>
          <p:cNvPr id="17" name="Segnaposto contenuto 2">
            <a:extLst>
              <a:ext uri="{FF2B5EF4-FFF2-40B4-BE49-F238E27FC236}">
                <a16:creationId xmlns:a16="http://schemas.microsoft.com/office/drawing/2014/main" id="{BC6F2179-6529-1A1F-7718-0E0AC272E1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690" y="1177735"/>
            <a:ext cx="11335327" cy="5102992"/>
          </a:xfrm>
        </p:spPr>
        <p:txBody>
          <a:bodyPr/>
          <a:lstStyle>
            <a:lvl1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111684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riangolo rettangolo 6">
            <a:extLst>
              <a:ext uri="{FF2B5EF4-FFF2-40B4-BE49-F238E27FC236}">
                <a16:creationId xmlns:a16="http://schemas.microsoft.com/office/drawing/2014/main" id="{1FA1F2C5-7C62-F9BE-393E-E724B54416D2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55F243F3-13EE-C3E5-5E8A-834D39EE8484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9" name="Titolo 1">
            <a:extLst>
              <a:ext uri="{FF2B5EF4-FFF2-40B4-BE49-F238E27FC236}">
                <a16:creationId xmlns:a16="http://schemas.microsoft.com/office/drawing/2014/main" id="{1F5E66A5-C753-3CF1-E6DB-37B4DCB67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07721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  <p:sp>
        <p:nvSpPr>
          <p:cNvPr id="10" name="Segnaposto contenuto 2">
            <a:extLst>
              <a:ext uri="{FF2B5EF4-FFF2-40B4-BE49-F238E27FC236}">
                <a16:creationId xmlns:a16="http://schemas.microsoft.com/office/drawing/2014/main" id="{E5E3F92E-6316-3317-61BC-706D42EA48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690" y="1177735"/>
            <a:ext cx="11335327" cy="5102992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684581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angolo rettangolo 7">
            <a:extLst>
              <a:ext uri="{FF2B5EF4-FFF2-40B4-BE49-F238E27FC236}">
                <a16:creationId xmlns:a16="http://schemas.microsoft.com/office/drawing/2014/main" id="{5F9FE27D-CD26-0AD3-5845-B6DD83D3C270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A5E02E2-CCC4-C909-286B-57DBA6DAAA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4236" y="1724025"/>
            <a:ext cx="5553364" cy="4713720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730E16D-F4C4-C40F-EBF9-6B48297681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6164" y="1724024"/>
            <a:ext cx="5181600" cy="4713719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DEB7F23D-A67D-E9A8-3897-0B3E366FFDA8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8E9F3245-5EA1-15BC-B690-C94EEBA04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13206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</p:spTree>
    <p:extLst>
      <p:ext uri="{BB962C8B-B14F-4D97-AF65-F5344CB8AC3E}">
        <p14:creationId xmlns:p14="http://schemas.microsoft.com/office/powerpoint/2010/main" val="98386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tangolo 14">
            <a:extLst>
              <a:ext uri="{FF2B5EF4-FFF2-40B4-BE49-F238E27FC236}">
                <a16:creationId xmlns:a16="http://schemas.microsoft.com/office/drawing/2014/main" id="{6C109CCD-6F29-4866-E2E5-5B2A89B6124F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6" name="Titolo 1">
            <a:extLst>
              <a:ext uri="{FF2B5EF4-FFF2-40B4-BE49-F238E27FC236}">
                <a16:creationId xmlns:a16="http://schemas.microsoft.com/office/drawing/2014/main" id="{16795F32-9ADB-2D6E-3F1A-651292572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07721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  <p:sp>
        <p:nvSpPr>
          <p:cNvPr id="14" name="Triangolo rettangolo 13">
            <a:extLst>
              <a:ext uri="{FF2B5EF4-FFF2-40B4-BE49-F238E27FC236}">
                <a16:creationId xmlns:a16="http://schemas.microsoft.com/office/drawing/2014/main" id="{D3F72BC2-6546-9F4D-A2AF-34BD7BE556EF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85022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riangolo rettangolo 5">
            <a:extLst>
              <a:ext uri="{FF2B5EF4-FFF2-40B4-BE49-F238E27FC236}">
                <a16:creationId xmlns:a16="http://schemas.microsoft.com/office/drawing/2014/main" id="{3634C4AC-B083-7865-7373-2BEEECFF6606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FAF007E3-8548-23AD-E33A-F398A0C9CD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4236" y="1724025"/>
            <a:ext cx="5181600" cy="4713720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8" name="Segnaposto contenuto 3">
            <a:extLst>
              <a:ext uri="{FF2B5EF4-FFF2-40B4-BE49-F238E27FC236}">
                <a16:creationId xmlns:a16="http://schemas.microsoft.com/office/drawing/2014/main" id="{9529817C-9885-950C-E3F4-CC00D73917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6164" y="1132068"/>
            <a:ext cx="5181600" cy="5725932"/>
          </a:xfrm>
        </p:spPr>
        <p:txBody>
          <a:bodyPr/>
          <a:lstStyle>
            <a:lvl1pPr>
              <a:buNone/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F3A4927F-775B-7D89-502B-DF81353EF685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6571FF2B-5D2E-3081-AC66-F4B8BBA37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13206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</p:spTree>
    <p:extLst>
      <p:ext uri="{BB962C8B-B14F-4D97-AF65-F5344CB8AC3E}">
        <p14:creationId xmlns:p14="http://schemas.microsoft.com/office/powerpoint/2010/main" val="272715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3D23AEED-4B56-6B24-5AC1-76C144F9B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2345ECA5-7148-6535-6D45-D3C8BDF5B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B61C80E-69F5-F707-03EA-0633BD585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40041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26504FA-96CE-45AC-5D34-7CCED9F2D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02C01D4-FBC7-9661-E6A1-7A11900B73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54077814-A0B6-1333-ACB7-0D9D5A4816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128D4D9-4213-C067-0D47-9F05D7E39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6A23FFF-A8BA-E377-B142-532D2FD78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FC447B9-2DFA-A874-8E43-098ADC131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47590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B796CF0-4C43-2D1C-BB1A-263E24496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11776006-AD0F-0CEB-EDEF-4514034991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E4DEFB1-68B7-E382-BADA-39EB502C20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904E12F-688A-2F97-F724-DC4CF6C3E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7D64CAD-F190-F120-974E-F473807EB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4547342-9181-09EE-B55A-F30C70C9E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79513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C0EB114-6C37-E8CC-A193-F8D64F36C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37CB3BAC-DEA8-23CC-BDB2-74B647B3CD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FB18F75-0A15-2FAA-1D3A-9D166821D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215F215-8199-5B9C-DCD8-E588BB8D6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709F3C3-435F-2A9F-01C4-74636074F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43095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42FF0315-1C4D-9FE2-D876-D888C1B637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A06CDC2E-055E-8780-05B8-7EA8608B56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B9E2A3E-E6CE-D516-EEEF-62194A336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06994B0-0504-2398-8A81-94318066C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822CE7A-332C-DDE9-BCD7-0A13CBB68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571035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4425F17-F280-B8D5-DCF7-C0E75C877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B669485D-A22B-B1FE-0472-993FDBD929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C121B56-52E9-C6D6-7D9C-CF7C7C01F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B383A8F-4A78-5535-4887-C369BC83A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2B1BE79-8919-3560-9B03-FA6BD1687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996364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9616D81-2F08-AD64-70AD-A86418539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6881E8E-61F2-C515-3057-DC0C5F7D91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29FB0FA-43B0-947F-7897-3540D6A45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C69DA08-A9C6-EBAA-7224-C95ACA586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B856C26-4250-B471-81C4-84316BF45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876340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EE93357-2658-DB74-3E64-8B0BDDC2C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A0E0BF1-3E38-075C-B665-AF24D6F5EC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18E6818-D8D1-258D-DB4E-490079DFD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1B2F335-2380-EA0E-2F23-BF197CE56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3C52A8B-AEA5-6352-B6B4-BDD0B9755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350175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2E3071-D044-BB23-51EE-E671D43DD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8757D96-1A5D-2E91-53AD-3E4547135F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49DF4EE-8378-B38C-A4C0-04448B913D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CC211AC-484E-735A-B528-441FCB905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348BBD6-0F4B-A53E-EBD9-1BF03F675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E5244DC-8D35-D045-C072-D36AFDACC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619725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58B3D89-6109-F772-D04F-ABBBD6D1F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E807CC4-FB2B-2BFA-08BD-CD436387D5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2925F81-20FF-8C32-3514-EB34B9DBBB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0F4446DB-B88A-DBB9-A0A5-C88C1934C2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3A6B48B-313D-6521-7C16-B3876BCE57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40381F6A-7C86-1E88-9939-F3B2F9FE1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C0E6FF4A-8374-AC02-73A7-C83B308AA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A6D79162-DFE1-1A4F-FF9B-154F3EE39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760075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038DECC-FBB4-7346-8EB0-DAFFC752E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01F4F0F3-64CA-9C56-AAC6-63136D1A4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BFCC62D3-ABCE-0949-BF34-1C782807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A75B398-CBCD-F30D-276E-A50BE82D1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4893122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43B6845A-D0CF-5554-244C-D90ACB7F4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80B100B6-B6D2-019D-E253-C693DE390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87B19FA-DF7B-DA16-DB56-CC2ED2991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961629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1BEB6F7-6E47-BFBD-39AA-8FFA1EE8D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1483B04-91A4-44A7-7AB3-05B09C4067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7796BB4-3AAE-B697-1820-6FAC5A7140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CC6CF06-03BB-FDEF-2445-A60DBCBE1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E97C6BF-B38D-2F58-9AA6-7BDF0E903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58A490B-44D3-EC5D-291B-7DAFC6655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84305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8551D9D-192C-C2A7-77D9-EE86CEE73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A84C29A9-0EE5-5165-5199-50CE6E5070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12C24E4-C1CD-75EB-9FEF-5C4E545E53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F52AFC8-5298-1992-C822-D5B184B43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A5D5FE9D-4797-CF23-D9D4-71FB47F58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E6852FB-9C9E-2EA4-04EB-C6FE2E178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209107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A4BBF28-78E1-828B-A0A7-D370C87A3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97166F2-C794-9B28-95CA-26C0A02923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F29DB03-6306-F6F8-6ED6-C1EE5B336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51D1C84-F3B5-E661-AF18-D1FAF3989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0417700-FA19-9F34-9237-A28BC4AE1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6750544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2381892E-2BE6-AFB6-FBB6-C81089FECB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2C96AD7-56E4-AE7A-07EF-733E90B1EB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E6042AC-C8C7-9B09-6548-CA6A05615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DFBE6EE-5BFC-CE40-4172-6604FFC8C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1EB0C30-5DF2-7930-94B9-372A9AC52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705345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8A194F2-52B3-26CE-07D7-F173C1BEE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26D221D5-0A92-9F24-DEBD-A3BCE62DF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8EBEEEBB-8E50-359C-7FFF-854110774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47A5640-8750-1366-B9E3-4DA068BF8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92828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DDC7DAA0-AB1C-137C-931D-D2D49BB2E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1128E91-99C7-0B38-0763-94BD6D6E51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7440F99-FCBA-6FE7-D189-D806877C41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1922ABE-DFF3-657B-2A69-32DA737EDC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967ADC8-58CE-63D0-60D5-AB7DEC2437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38054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Catamaran" panose="020B0604020202020204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6A91A497-0ABA-90E9-9CAD-9B805E874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68F7225-266C-6BA7-A886-F91E23F5A7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4D2256E-3BAD-2343-03B7-5DAC7F32D6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46BCCEB-F239-1A8F-E079-41C6A61042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8ECAC32-87B2-B11D-1FF7-5916185B1B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62019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Ottimizzazione Riga Dataset: 158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Analisi pitch e beta1 e beta2 e w1 e w2 e tmovxu e tmovxl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Parametri PPO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n_epochs = 10</a:t>
            </a:r>
          </a:p>
          <a:p>
            <a:r>
              <a:t>gamma = 0.99</a:t>
            </a:r>
          </a:p>
          <a:p>
            <a:r>
              <a:t>gae_lambda = 0.95</a:t>
            </a:r>
          </a:p>
          <a:p>
            <a:r>
              <a:t>clip_range = 0.2</a:t>
            </a:r>
          </a:p>
          <a:p>
            <a:r>
              <a:t>ent_coef = 0.01</a:t>
            </a:r>
          </a:p>
          <a:p>
            <a:r>
              <a:t>vf_coef = 0.5</a:t>
            </a:r>
          </a:p>
          <a:p>
            <a:r>
              <a:t>max_grad_norm = 0.5</a:t>
            </a:r>
          </a:p>
          <a:p>
            <a:r>
              <a:t>verbose =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  <a:p>
            <a:pPr/>
            <a:r>
              <a:t>N steps = 200</a:t>
            </a:r>
          </a:p>
          <a:p>
            <a:pPr/>
            <a:r>
              <a:t>Episode Length = 20</a:t>
            </a:r>
          </a:p>
          <a:p>
            <a:pPr/>
            <a:r>
              <a:t>Batch size = 64</a:t>
            </a:r>
          </a:p>
          <a:p>
            <a:pPr/>
            <a:r>
              <a:t>CSI Originale = 0.0241</a:t>
            </a:r>
          </a:p>
          <a:p>
            <a:pPr/>
            <a:r>
              <a:t>DOF attivi modificati:</a:t>
            </a:r>
          </a:p>
          <a:p>
            <a:pPr lvl="1"/>
            <a:r>
              <a:t>DOF_PITCH da 0.1168044689 a 0.117</a:t>
            </a:r>
          </a:p>
          <a:p>
            <a:pPr lvl="1"/>
            <a:r>
              <a:t>DOF_BETA1 da 16.7334 a 16.733</a:t>
            </a:r>
          </a:p>
          <a:p>
            <a:pPr lvl="1"/>
            <a:r>
              <a:t>DOF_BETA2 da -66.90674 a -66.907</a:t>
            </a:r>
          </a:p>
          <a:p>
            <a:pPr lvl="1"/>
            <a:r>
              <a:t>DOF_W1 da 0.01699219 a 0.017</a:t>
            </a:r>
          </a:p>
          <a:p>
            <a:pPr lvl="1"/>
            <a:r>
              <a:t>DOF_W2 da 0.873291 a 0.873</a:t>
            </a:r>
          </a:p>
          <a:p>
            <a:pPr lvl="1"/>
            <a:r>
              <a:t>DOF_TMOVXU da -0.01114502 a -0.011</a:t>
            </a:r>
          </a:p>
          <a:p>
            <a:pPr lvl="1"/>
            <a:r>
              <a:t>DOF_TMOVXL da 0.152063 a 0.152</a:t>
            </a:r>
          </a:p>
          <a:p>
            <a:pPr/>
            <a:r>
              <a:t>CSI profilo modificato = None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  <a:p>
            <a:pPr/>
            <a:r>
              <a:t>Limiti operativi (DOF Bounds):</a:t>
            </a:r>
          </a:p>
          <a:p>
            <a:r>
              <a:t>DOF_PITCH = [0.084, 0.14]</a:t>
            </a:r>
          </a:p>
          <a:p>
            <a:r>
              <a:t>DOF_BETA1 = [0.034, 19.966]</a:t>
            </a:r>
          </a:p>
          <a:p>
            <a:r>
              <a:t>DOF_BETA2 = [-69.996, -60.121]</a:t>
            </a:r>
          </a:p>
          <a:p>
            <a:r>
              <a:t>DOF_W1 = [0.0, 0.745]</a:t>
            </a:r>
          </a:p>
          <a:p>
            <a:r>
              <a:t>DOF_W2 = [0.001, 0.999]</a:t>
            </a:r>
          </a:p>
          <a:p>
            <a:r>
              <a:t>DOF_TMOVXU = [-0.149, 0.199]</a:t>
            </a:r>
          </a:p>
          <a:p>
            <a:r>
              <a:t>DOF_TMOVXL = [-0.15, 0.2]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Punto di partenza simulazione con LR = 3e-05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Risultati</a:t>
            </a:r>
          </a:p>
        </p:txBody>
      </p:sp>
      <p:pic>
        <p:nvPicPr>
          <p:cNvPr id="3" name="Picture 2" descr="plot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60152" cy="356054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Andamento Valore Miglior DOF per episodio</a:t>
            </a:r>
          </a:p>
        </p:txBody>
      </p:sp>
      <p:pic>
        <p:nvPicPr>
          <p:cNvPr id="3" name="Picture 2" descr="plot_dof_ev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731082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Andamento Valore Miglior DOF per episodio</a:t>
            </a:r>
          </a:p>
        </p:txBody>
      </p:sp>
      <p:pic>
        <p:nvPicPr>
          <p:cNvPr id="3" name="Picture 2" descr="plot_dof_evolution_bar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712978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Metriche Attore</a:t>
            </a:r>
          </a:p>
        </p:txBody>
      </p:sp>
      <p:pic>
        <p:nvPicPr>
          <p:cNvPr id="3" name="Picture 2" descr="plot_metrics_a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853766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Metriche Critico</a:t>
            </a:r>
          </a:p>
        </p:txBody>
      </p:sp>
      <p:pic>
        <p:nvPicPr>
          <p:cNvPr id="3" name="Picture 2" descr="plot_metrics_cri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60152" cy="386170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  <a:p>
            <a:pPr/>
            <a:r>
              <a:t>DOF Ottimali:</a:t>
            </a:r>
          </a:p>
          <a:p>
            <a:pPr/>
            <a:r>
              <a:t>DOF_PITCH (*) = 0.140000 da 0.116804</a:t>
            </a:r>
          </a:p>
          <a:p>
            <a:pPr/>
            <a:r>
              <a:t>DOF_BETA1 (*) = 19.380886 da 16.733400</a:t>
            </a:r>
          </a:p>
          <a:p>
            <a:pPr/>
            <a:r>
              <a:t>DOF_BETA2 (*) = -69.264503 da -66.906738</a:t>
            </a:r>
          </a:p>
          <a:p>
            <a:pPr/>
            <a:r>
              <a:t>DOF_W1 (*) = 0.026185 da 0.016992</a:t>
            </a:r>
          </a:p>
          <a:p>
            <a:pPr/>
            <a:r>
              <a:t>DOF_W2 (*) = 0.904303 da 0.873291</a:t>
            </a:r>
          </a:p>
          <a:p>
            <a:pPr/>
            <a:r>
              <a:t>DOF_TMOVXU (*) = -0.044706 da -0.011145</a:t>
            </a:r>
          </a:p>
          <a:p>
            <a:pPr/>
            <a:r>
              <a:t>DOF_TMOVXL (*) = 0.175420 da 0.152063</a:t>
            </a:r>
          </a:p>
          <a:p>
            <a:pPr/>
            <a:r>
              <a:t>ALPHA_0 = 10.000°</a:t>
            </a:r>
          </a:p>
          <a:p>
            <a:pPr/>
            <a:r>
              <a:t>Deflessione (ε) = 75.187°</a:t>
            </a:r>
          </a:p>
          <a:p>
            <a:pPr/>
            <a:r>
              <a:t>Curvatura camber (θ) = 88.645°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/>
            <a:r>
              <a:t>OF Risultanti:</a:t>
            </a:r>
          </a:p>
          <a:p>
            <a:pPr/>
            <a:r>
              <a:t>OF_alfa_ex = -65.186920 da -65.597000</a:t>
            </a:r>
          </a:p>
          <a:p>
            <a:pPr/>
            <a:r>
              <a:t>OF_Cpt = 0.024111 da 0.025810</a:t>
            </a:r>
          </a:p>
          <a:p>
            <a:pPr/>
            <a:r>
              <a:t>OF_CSI = 0.022428 da 0.024100</a:t>
            </a:r>
          </a:p>
          <a:p>
            <a:pPr/>
            <a:r>
              <a:t>OF_phi = 0.506094 da 0.493132</a:t>
            </a:r>
          </a:p>
          <a:p>
            <a:pPr/>
            <a:r>
              <a:t>OF_psi = 1.177175 da 1.173905</a:t>
            </a:r>
          </a:p>
          <a:p>
            <a:pPr/>
            <a:r>
              <a:t>OF_Zwi = 1.181860 da 0.951696</a:t>
            </a:r>
          </a:p>
          <a:p>
            <a:pPr/>
            <a:r>
              <a:t>OF_Zwc = 1.128456 da 0.910132</a:t>
            </a:r>
          </a:p>
          <a:p>
            <a:pPr/>
            <a:r>
              <a:t>OF_DFss_mis = 1.289263 da 1.166500</a:t>
            </a:r>
          </a:p>
          <a:p>
            <a:pPr/>
            <a:r>
              <a:t>OF_DFss_cp = 0.939571 da 0.963100</a:t>
            </a:r>
          </a:p>
          <a:p>
            <a:pPr/>
            <a:r>
              <a:t>OF_Mis_peak = 0.485874 da 0.458300</a:t>
            </a:r>
          </a:p>
          <a:p>
            <a:pPr/>
            <a:r>
              <a:t>OF_s_peak = 0.471265 da 0.529400</a:t>
            </a:r>
          </a:p>
          <a:p>
            <a:pPr/>
            <a:r>
              <a:t>OF_s_diff_dim = 0.088089 da 0.078740</a:t>
            </a:r>
          </a:p>
          <a:p>
            <a:pPr/>
            <a:r>
              <a:t>OF_s_tot_SS = 0.171680 da 0.167300</a:t>
            </a:r>
          </a:p>
          <a:p>
            <a:pPr/>
            <a:r>
              <a:t>OF_Tmax = 0.012098 da 0.012153</a:t>
            </a:r>
          </a:p>
          <a:p>
            <a:pPr/>
            <a:r>
              <a:t>OF_X_Tmax = 0.239866 da 0.247260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Miglior Profilo Ottimizzato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Smith Diagram Action - Axial exit</a:t>
            </a:r>
          </a:p>
        </p:txBody>
      </p:sp>
      <p:pic>
        <p:nvPicPr>
          <p:cNvPr id="3" name="Picture 2" descr="smith_diagram_action_assi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097280"/>
            <a:ext cx="7566796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Smith Diagram Action - Total to Total</a:t>
            </a:r>
          </a:p>
        </p:txBody>
      </p:sp>
      <p:pic>
        <p:nvPicPr>
          <p:cNvPr id="3" name="Picture 2" descr="smith_diagram_action_total_to_to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097280"/>
            <a:ext cx="7549873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Smith Diagram Reaction - Total to Total</a:t>
            </a:r>
          </a:p>
        </p:txBody>
      </p:sp>
      <p:pic>
        <p:nvPicPr>
          <p:cNvPr id="3" name="Picture 2" descr="smith_diagram_reaction_total_to_to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097280"/>
            <a:ext cx="7556219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Smith Diagram Reaction - Total to Total</a:t>
            </a:r>
          </a:p>
        </p:txBody>
      </p:sp>
      <p:pic>
        <p:nvPicPr>
          <p:cNvPr id="3" name="Picture 2" descr="smith_diagram_reaction_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097280"/>
            <a:ext cx="6803136" cy="5669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Personalizza struttur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6504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2</vt:i4>
      </vt:variant>
      <vt:variant>
        <vt:lpstr>Titoli diapositive</vt:lpstr>
      </vt:variant>
      <vt:variant>
        <vt:i4>0</vt:i4>
      </vt:variant>
    </vt:vector>
  </HeadingPairs>
  <TitlesOfParts>
    <vt:vector size="6" baseType="lpstr">
      <vt:lpstr>Aptos</vt:lpstr>
      <vt:lpstr>Aptos Display</vt:lpstr>
      <vt:lpstr>Arial</vt:lpstr>
      <vt:lpstr>Catamaran</vt:lpstr>
      <vt:lpstr>Tema di Office</vt:lpstr>
      <vt:lpstr>Personalizza struttura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Giorgio Pecchiari</dc:creator>
  <cp:lastModifiedBy>Giorgio Pecchiari</cp:lastModifiedBy>
  <cp:revision>14</cp:revision>
  <dcterms:created xsi:type="dcterms:W3CDTF">2026-04-15T17:56:24Z</dcterms:created>
  <dcterms:modified xsi:type="dcterms:W3CDTF">2026-04-30T12:48:30Z</dcterms:modified>
</cp:coreProperties>
</file>