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551717-2596-4457-9194-7AC0DCAC49F1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5F4FE-E259-4D0F-B379-AD2F71B92C8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5347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A9005B-2A59-AA8E-9AE1-7B75B5F9274F}"/>
              </a:ext>
            </a:extLst>
          </p:cNvPr>
          <p:cNvSpPr/>
          <p:nvPr userDrawn="1"/>
        </p:nvSpPr>
        <p:spPr>
          <a:xfrm>
            <a:off x="0" y="589936"/>
            <a:ext cx="12192000" cy="6268064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BB187E91-8E1B-0244-473B-366A53147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024" y="1113126"/>
            <a:ext cx="9993745" cy="2387600"/>
          </a:xfrm>
        </p:spPr>
        <p:txBody>
          <a:bodyPr/>
          <a:lstStyle>
            <a:lvl1pPr algn="ctr">
              <a:defRPr sz="5400"/>
            </a:lvl1pPr>
          </a:lstStyle>
          <a:p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143CC53-66B3-D2F6-34D6-A9420838E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78182" y="3701843"/>
            <a:ext cx="7557431" cy="2763611"/>
          </a:xfrm>
        </p:spPr>
        <p:txBody>
          <a:bodyPr>
            <a:normAutofit fontScale="85000" lnSpcReduction="20000"/>
          </a:bodyPr>
          <a:lstStyle>
            <a:lvl1pPr algn="ctr">
              <a:buNone/>
              <a:defRPr/>
            </a:lvl1pPr>
          </a:lstStyle>
          <a:p>
            <a:pPr algn="l"/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50EB309-34E9-F7EB-D07D-D21DD2AAD42F}"/>
              </a:ext>
            </a:extLst>
          </p:cNvPr>
          <p:cNvSpPr/>
          <p:nvPr userDrawn="1"/>
        </p:nvSpPr>
        <p:spPr>
          <a:xfrm>
            <a:off x="0" y="0"/>
            <a:ext cx="12192000" cy="589935"/>
          </a:xfrm>
          <a:prstGeom prst="rect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8284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angolo rettangolo 10">
            <a:extLst>
              <a:ext uri="{FF2B5EF4-FFF2-40B4-BE49-F238E27FC236}">
                <a16:creationId xmlns:a16="http://schemas.microsoft.com/office/drawing/2014/main" id="{F6450C9E-BD45-B287-6533-8DFCACD0E26A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4C6F734-0FED-D02A-60A4-E77C8FD1C1F1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3" name="Titolo 1">
            <a:extLst>
              <a:ext uri="{FF2B5EF4-FFF2-40B4-BE49-F238E27FC236}">
                <a16:creationId xmlns:a16="http://schemas.microsoft.com/office/drawing/2014/main" id="{FC68E3CD-1556-162D-015A-C68F2FBF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7" name="Segnaposto contenuto 2">
            <a:extLst>
              <a:ext uri="{FF2B5EF4-FFF2-40B4-BE49-F238E27FC236}">
                <a16:creationId xmlns:a16="http://schemas.microsoft.com/office/drawing/2014/main" id="{BC6F2179-6529-1A1F-7718-0E0AC272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1168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riangolo rettangolo 6">
            <a:extLst>
              <a:ext uri="{FF2B5EF4-FFF2-40B4-BE49-F238E27FC236}">
                <a16:creationId xmlns:a16="http://schemas.microsoft.com/office/drawing/2014/main" id="{1FA1F2C5-7C62-F9BE-393E-E724B54416D2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55F243F3-13EE-C3E5-5E8A-834D39EE8484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1F5E66A5-C753-3CF1-E6DB-37B4DCB67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E5E3F92E-6316-3317-61BC-706D42EA4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684581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olo rettangolo 7">
            <a:extLst>
              <a:ext uri="{FF2B5EF4-FFF2-40B4-BE49-F238E27FC236}">
                <a16:creationId xmlns:a16="http://schemas.microsoft.com/office/drawing/2014/main" id="{5F9FE27D-CD26-0AD3-5845-B6DD83D3C270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5E02E2-CCC4-C909-286B-57DBA6DAA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553364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730E16D-F4C4-C40F-EBF9-6B4829768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724024"/>
            <a:ext cx="5181600" cy="4713719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EB7F23D-A67D-E9A8-3897-0B3E366FFDA8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8E9F3245-5EA1-15BC-B690-C94EEBA0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98386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6C109CCD-6F29-4866-E2E5-5B2A89B6124F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Titolo 1">
            <a:extLst>
              <a:ext uri="{FF2B5EF4-FFF2-40B4-BE49-F238E27FC236}">
                <a16:creationId xmlns:a16="http://schemas.microsoft.com/office/drawing/2014/main" id="{16795F32-9ADB-2D6E-3F1A-65129257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4" name="Triangolo rettangolo 13">
            <a:extLst>
              <a:ext uri="{FF2B5EF4-FFF2-40B4-BE49-F238E27FC236}">
                <a16:creationId xmlns:a16="http://schemas.microsoft.com/office/drawing/2014/main" id="{D3F72BC2-6546-9F4D-A2AF-34BD7BE556EF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502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riangolo rettangolo 5">
            <a:extLst>
              <a:ext uri="{FF2B5EF4-FFF2-40B4-BE49-F238E27FC236}">
                <a16:creationId xmlns:a16="http://schemas.microsoft.com/office/drawing/2014/main" id="{3634C4AC-B083-7865-7373-2BEEECFF6606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FAF007E3-8548-23AD-E33A-F398A0C9C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181600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8" name="Segnaposto contenuto 3">
            <a:extLst>
              <a:ext uri="{FF2B5EF4-FFF2-40B4-BE49-F238E27FC236}">
                <a16:creationId xmlns:a16="http://schemas.microsoft.com/office/drawing/2014/main" id="{9529817C-9885-950C-E3F4-CC00D739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132068"/>
            <a:ext cx="5181600" cy="5725932"/>
          </a:xfrm>
        </p:spPr>
        <p:txBody>
          <a:bodyPr/>
          <a:lstStyle>
            <a:lvl1pPr>
              <a:buNone/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F3A4927F-775B-7D89-502B-DF81353EF685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6571FF2B-5D2E-3081-AC66-F4B8BBA37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2727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D23AEED-4B56-6B24-5AC1-76C144F9B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345ECA5-7148-6535-6D45-D3C8BDF5B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B61C80E-69F5-F707-03EA-0633BD585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0041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504FA-96CE-45AC-5D34-7CCED9F2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2C01D4-FBC7-9661-E6A1-7A11900B7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4077814-A0B6-1333-ACB7-0D9D5A4816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128D4D9-4213-C067-0D47-9F05D7E39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6A23FFF-A8BA-E377-B142-532D2FD78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FC447B9-2DFA-A874-8E43-098ADC13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759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96CF0-4C43-2D1C-BB1A-263E2449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1776006-AD0F-0CEB-EDEF-4514034991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E4DEFB1-68B7-E382-BADA-39EB502C2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04E12F-688A-2F97-F724-DC4CF6C3E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D64CAD-F190-F120-974E-F473807EB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4547342-9181-09EE-B55A-F30C70C9E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9513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0EB114-6C37-E8CC-A193-F8D64F36C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7CB3BAC-DEA8-23CC-BDB2-74B647B3CD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18F75-0A15-2FAA-1D3A-9D166821D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15F215-8199-5B9C-DCD8-E588BB8D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09F3C3-435F-2A9F-01C4-74636074F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3095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2FF0315-1C4D-9FE2-D876-D888C1B63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6CDC2E-055E-8780-05B8-7EA8608B5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9E2A3E-E6CE-D516-EEEF-62194A336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6994B0-0504-2398-8A81-94318066C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22CE7A-332C-DDE9-BCD7-0A13CBB68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71035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425F17-F280-B8D5-DCF7-C0E75C877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669485D-A22B-B1FE-0472-993FDBD929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121B56-52E9-C6D6-7D9C-CF7C7C01F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383A8F-4A78-5535-4887-C369BC83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B1BE79-8919-3560-9B03-FA6BD1687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96364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9616D81-2F08-AD64-70AD-A86418539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881E8E-61F2-C515-3057-DC0C5F7D9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9FB0FA-43B0-947F-7897-3540D6A4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69DA08-A9C6-EBAA-7224-C95ACA58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B856C26-4250-B471-81C4-84316BF4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76340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E93357-2658-DB74-3E64-8B0BDDC2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A0E0BF1-3E38-075C-B665-AF24D6F5E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8E6818-D8D1-258D-DB4E-490079DF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B2F335-2380-EA0E-2F23-BF197CE5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C52A8B-AEA5-6352-B6B4-BDD0B975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5017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2E3071-D044-BB23-51EE-E671D43DD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8757D96-1A5D-2E91-53AD-3E4547135F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49DF4EE-8378-B38C-A4C0-04448B913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CC211AC-484E-735A-B528-441FCB905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48BBD6-0F4B-A53E-EBD9-1BF03F675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E5244DC-8D35-D045-C072-D36AFDACC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1972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8B3D89-6109-F772-D04F-ABBBD6D1F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807CC4-FB2B-2BFA-08BD-CD436387D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2925F81-20FF-8C32-3514-EB34B9DBB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F4446DB-B88A-DBB9-A0A5-C88C1934C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3A6B48B-313D-6521-7C16-B3876BCE57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0381F6A-7C86-1E88-9939-F3B2F9FE1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0E6FF4A-8374-AC02-73A7-C83B308A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6D79162-DFE1-1A4F-FF9B-154F3EE39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6007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8DECC-FBB4-7346-8EB0-DAFFC752E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1F4F0F3-64CA-9C56-AAC6-63136D1A4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FCC62D3-ABCE-0949-BF34-1C782807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A75B398-CBCD-F30D-276E-A50BE82D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48931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3B6845A-D0CF-5554-244C-D90ACB7F4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0B100B6-B6D2-019D-E253-C693DE390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87B19FA-DF7B-DA16-DB56-CC2ED2991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61629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BEB6F7-6E47-BFBD-39AA-8FFA1EE8D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483B04-91A4-44A7-7AB3-05B09C406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7796BB4-3AAE-B697-1820-6FAC5A714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CC6CF06-03BB-FDEF-2445-A60DBCBE1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97C6BF-B38D-2F58-9AA6-7BDF0E903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8A490B-44D3-EC5D-291B-7DAFC665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430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551D9D-192C-C2A7-77D9-EE86CEE73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84C29A9-0EE5-5165-5199-50CE6E5070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12C24E4-C1CD-75EB-9FEF-5C4E545E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F52AFC8-5298-1992-C822-D5B184B43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D5FE9D-4797-CF23-D9D4-71FB47F5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E6852FB-9C9E-2EA4-04EB-C6FE2E178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09107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4BBF28-78E1-828B-A0A7-D370C87A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97166F2-C794-9B28-95CA-26C0A0292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29DB03-6306-F6F8-6ED6-C1EE5B336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1D1C84-F3B5-E661-AF18-D1FAF3989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417700-FA19-9F34-9237-A28BC4A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75054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81892E-2BE6-AFB6-FBB6-C81089FECB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2C96AD7-56E4-AE7A-07EF-733E90B1E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6042AC-C8C7-9B09-6548-CA6A05615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FBE6EE-5BFC-CE40-4172-6604FFC8C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EB0C30-5DF2-7930-94B9-372A9AC5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05345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A194F2-52B3-26CE-07D7-F173C1BEE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6D221D5-0A92-9F24-DEBD-A3BCE62DF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EBEEEBB-8E50-359C-7FFF-85411077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47A5640-8750-1366-B9E3-4DA068B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92828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DC7DAA0-AB1C-137C-931D-D2D49BB2E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1128E91-99C7-0B38-0763-94BD6D6E5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7440F99-FCBA-6FE7-D189-D806877C4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922ABE-DFF3-657B-2A69-32DA737ED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967ADC8-58CE-63D0-60D5-AB7DEC243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805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Catamaran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A91A497-0ABA-90E9-9CAD-9B805E87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68F7225-266C-6BA7-A886-F91E23F5A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4D2256E-3BAD-2343-03B7-5DAC7F32D6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46BCCEB-F239-1A8F-E079-41C6A61042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ECAC32-87B2-B11D-1FF7-5916185B1B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201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Ottimizzazione Riga Dataset: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Analisi alfain e pitch e re2is e ma2is e aratio e beta1 e beta2 e w1 e w2 e rte e tmaxu e tmaxl e tmovxu e tmovxl e tucp2 e tucp3 e sucp3 e tucp5 e sucp5 e tlcp5 e slcp5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Parametri PPO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n_epochs = 10</a:t>
            </a:r>
          </a:p>
          <a:p>
            <a:r>
              <a:t>gamma = 0.99</a:t>
            </a:r>
          </a:p>
          <a:p>
            <a:r>
              <a:t>gae_lambda = 0.95</a:t>
            </a:r>
          </a:p>
          <a:p>
            <a:r>
              <a:t>clip_range = 0.2</a:t>
            </a:r>
          </a:p>
          <a:p>
            <a:r>
              <a:t>ent_coef = 0.01</a:t>
            </a:r>
          </a:p>
          <a:p>
            <a:r>
              <a:t>vf_coef = 0.5</a:t>
            </a:r>
          </a:p>
          <a:p>
            <a:r>
              <a:t>max_grad_norm = 0.5</a:t>
            </a:r>
          </a:p>
          <a:p>
            <a:r>
              <a:t>verbose =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N steps = 200</a:t>
            </a:r>
          </a:p>
          <a:p>
            <a:pPr/>
            <a:r>
              <a:t>Episode Length = 20</a:t>
            </a:r>
          </a:p>
          <a:p>
            <a:pPr/>
            <a:r>
              <a:t>Batch size = 64</a:t>
            </a:r>
          </a:p>
          <a:p>
            <a:pPr/>
            <a:r>
              <a:t>CSI Originale = 0.04053</a:t>
            </a:r>
          </a:p>
          <a:p>
            <a:pPr/>
            <a:r>
              <a:t>DOF attivi modificati:</a:t>
            </a:r>
          </a:p>
          <a:p>
            <a:pPr lvl="1"/>
            <a:r>
              <a:t>DOF_ALFAIN da 21.76 a 21.760</a:t>
            </a:r>
          </a:p>
          <a:p>
            <a:pPr lvl="1"/>
            <a:r>
              <a:t>DOF_PITCH da 0.08149008314 a 0.081</a:t>
            </a:r>
          </a:p>
          <a:p>
            <a:pPr lvl="1"/>
            <a:r>
              <a:t>DOF_RE2IS da 187020.0 a 187020.000</a:t>
            </a:r>
          </a:p>
          <a:p>
            <a:pPr lvl="1"/>
            <a:r>
              <a:t>DOF_MA2IS da 0.53577 a 0.536</a:t>
            </a:r>
          </a:p>
          <a:p>
            <a:pPr lvl="1"/>
            <a:r>
              <a:t>DOF_ARATIO da 1.320926 a 1.321</a:t>
            </a:r>
          </a:p>
          <a:p>
            <a:pPr lvl="1"/>
            <a:r>
              <a:t>DOF_BETA1 da 29.784542 a 29.785</a:t>
            </a:r>
          </a:p>
          <a:p>
            <a:pPr lvl="1"/>
            <a:r>
              <a:t>DOF_BETA2 da -64.40948 a -64.409</a:t>
            </a:r>
          </a:p>
          <a:p>
            <a:pPr lvl="1"/>
            <a:r>
              <a:t>DOF_W1 da 0.5884277 a 0.588</a:t>
            </a:r>
          </a:p>
          <a:p>
            <a:pPr lvl="1"/>
            <a:r>
              <a:t>DOF_W2 da 0.07281494 a 0.073</a:t>
            </a:r>
          </a:p>
          <a:p>
            <a:pPr lvl="1"/>
            <a:r>
              <a:t>DOF_RTE da 0.001241217 a 0.001</a:t>
            </a:r>
          </a:p>
          <a:p>
            <a:pPr lvl="1"/>
            <a:r>
              <a:t>DOF_TMAXU da 0.01478943 a 0.015</a:t>
            </a:r>
          </a:p>
          <a:p>
            <a:pPr lvl="1"/>
            <a:r>
              <a:t>DOF_TMAXL da 0.003737946 a 0.004</a:t>
            </a:r>
          </a:p>
          <a:p>
            <a:pPr lvl="1"/>
            <a:r>
              <a:t>DOF_TMOVXU da 0.04723816 a 0.047</a:t>
            </a:r>
          </a:p>
          <a:p>
            <a:pPr lvl="1"/>
            <a:r>
              <a:t>DOF_TMOVXL da -0.101828 a -0.102</a:t>
            </a:r>
          </a:p>
          <a:p>
            <a:pPr lvl="1"/>
            <a:r>
              <a:t>DOF_TUCP2 da 0.3106763 a 0.311</a:t>
            </a:r>
          </a:p>
          <a:p>
            <a:pPr lvl="1"/>
            <a:r>
              <a:t>DOF_TUCP3 da 0.8328845 a 0.833</a:t>
            </a:r>
          </a:p>
          <a:p>
            <a:pPr lvl="1"/>
            <a:r>
              <a:t>DOF_SUCP3 da 0.09361572 a 0.094</a:t>
            </a:r>
          </a:p>
          <a:p>
            <a:pPr lvl="1"/>
            <a:r>
              <a:t>DOF_TUCP5 da 0.4981995 a 0.498</a:t>
            </a:r>
          </a:p>
          <a:p>
            <a:pPr lvl="1"/>
            <a:r>
              <a:t>DOF_SUCP5 da 0.5915985 a 0.592</a:t>
            </a:r>
          </a:p>
          <a:p>
            <a:pPr lvl="1"/>
            <a:r>
              <a:t>DOF_TLCP5 da 0.4858276 a 0.486</a:t>
            </a:r>
          </a:p>
          <a:p>
            <a:pPr lvl="1"/>
            <a:r>
              <a:t>DOF_SLCP5 da 0.5182648 a 0.518</a:t>
            </a:r>
          </a:p>
          <a:p>
            <a:pPr/>
            <a:r>
              <a:t>CSI profilo modificato = None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pPr/>
            <a:r>
              <a:t>Limiti operativi (DOF Bounds):</a:t>
            </a:r>
          </a:p>
          <a:p>
            <a:r>
              <a:t>DOF_ALFAIN = [20.0, 30.0]</a:t>
            </a:r>
          </a:p>
          <a:p>
            <a:r>
              <a:t>DOF_PITCH = [0.04560844344, 0.1489434866]</a:t>
            </a:r>
          </a:p>
          <a:p>
            <a:r>
              <a:t>DOF_RE2IS = [50820.0, 256750.0]</a:t>
            </a:r>
          </a:p>
          <a:p>
            <a:r>
              <a:t>DOF_MA2IS = [0.40001, 0.89993]</a:t>
            </a:r>
          </a:p>
          <a:p>
            <a:r>
              <a:t>DOF_ARATIO = [0.950024, 1.399712]</a:t>
            </a:r>
          </a:p>
          <a:p>
            <a:r>
              <a:t>DOF_BETA1 = [-9.54361, 39.858401]</a:t>
            </a:r>
          </a:p>
          <a:p>
            <a:r>
              <a:t>DOF_BETA2 = [-79.62194, -50.804227]</a:t>
            </a:r>
          </a:p>
          <a:p>
            <a:r>
              <a:t>DOF_W1 = [0.0002319336, 0.7997925]</a:t>
            </a:r>
          </a:p>
          <a:p>
            <a:r>
              <a:t>DOF_W2 = [5.340576e-05, 0.9997559]</a:t>
            </a:r>
          </a:p>
          <a:p>
            <a:r>
              <a:t>DOF_RTE = [0.0007000397, 0.001999911]</a:t>
            </a:r>
          </a:p>
          <a:p>
            <a:r>
              <a:t>DOF_TMAXU = [0.004015076, 0.02998889]</a:t>
            </a:r>
          </a:p>
          <a:p>
            <a:r>
              <a:t>DOF_TMAXL = [0.002500534, 0.01999947]</a:t>
            </a:r>
          </a:p>
          <a:p>
            <a:r>
              <a:t>DOF_TMOVXU = [-0.1499146, 0.1999332]</a:t>
            </a:r>
          </a:p>
          <a:p>
            <a:r>
              <a:t>DOF_TMOVXL = [-0.1499893, 0.1999012]</a:t>
            </a:r>
          </a:p>
          <a:p>
            <a:r>
              <a:t>DOF_TUCP2 = [0.280032, 0.4799954]</a:t>
            </a:r>
          </a:p>
          <a:p>
            <a:r>
              <a:t>DOF_TUCP3 = [0.6000522, 0.9799333]</a:t>
            </a:r>
          </a:p>
          <a:p>
            <a:r>
              <a:t>DOF_SUCP3 = [0.08003296, 0.1999982]</a:t>
            </a:r>
          </a:p>
          <a:p>
            <a:r>
              <a:t>DOF_TUCP5 = [0.2500381, 0.7499733]</a:t>
            </a:r>
          </a:p>
          <a:p>
            <a:r>
              <a:t>DOF_SUCP5 = [0.5000038, 0.7499638]</a:t>
            </a:r>
          </a:p>
          <a:p>
            <a:r>
              <a:t>DOF_TLCP5 = [0.3500168, 0.5499741]</a:t>
            </a:r>
          </a:p>
          <a:p>
            <a:r>
              <a:t>DOF_SLCP5 = [0.5000095, 0.7499924]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Punto di partenza simulazione con LR = 3e-05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Risultati Training</a:t>
            </a:r>
          </a:p>
        </p:txBody>
      </p:sp>
      <p:pic>
        <p:nvPicPr>
          <p:cNvPr id="3" name="Picture 2" descr="plo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754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Evoluzione DOF - 1</a:t>
            </a:r>
          </a:p>
        </p:txBody>
      </p:sp>
      <p:pic>
        <p:nvPicPr>
          <p:cNvPr id="3" name="Picture 2" descr="plot_dof_evolution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915147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Evoluzione DOF - 2</a:t>
            </a:r>
          </a:p>
        </p:txBody>
      </p:sp>
      <p:pic>
        <p:nvPicPr>
          <p:cNvPr id="3" name="Picture 2" descr="plot_dof_evolution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915147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Evoluzione DOF - 3</a:t>
            </a:r>
          </a:p>
        </p:txBody>
      </p:sp>
      <p:pic>
        <p:nvPicPr>
          <p:cNvPr id="3" name="Picture 2" descr="plot_dof_evolution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189184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Actor</a:t>
            </a:r>
          </a:p>
        </p:txBody>
      </p:sp>
      <p:pic>
        <p:nvPicPr>
          <p:cNvPr id="3" name="Picture 2" descr="plot_metrics_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858384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Critic</a:t>
            </a:r>
          </a:p>
        </p:txBody>
      </p:sp>
      <p:pic>
        <p:nvPicPr>
          <p:cNvPr id="3" name="Picture 2" descr="plot_metrics_cri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8633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DOF Ottimali:</a:t>
            </a:r>
          </a:p>
          <a:p>
            <a:pPr/>
            <a:r>
              <a:t>DOF_ALFAIN (*) = 20.000000 da 21.760000</a:t>
            </a:r>
          </a:p>
          <a:p>
            <a:pPr/>
            <a:r>
              <a:t>DOF_PITCH (*) = 0.098409 da 0.081490</a:t>
            </a:r>
          </a:p>
          <a:p>
            <a:pPr/>
            <a:r>
              <a:t>DOF_RE2IS (*) = 237480.250000 da 187020.000000</a:t>
            </a:r>
          </a:p>
          <a:p>
            <a:pPr/>
            <a:r>
              <a:t>DOF_MA2IS (*) = 0.587255 da 0.535770</a:t>
            </a:r>
          </a:p>
          <a:p>
            <a:pPr/>
            <a:r>
              <a:t>DOF_ARATIO (*) = 1.124611 da 1.320926</a:t>
            </a:r>
          </a:p>
          <a:p>
            <a:pPr/>
            <a:r>
              <a:t>DOF_BETA1 (*) = 33.306694 da 29.784542</a:t>
            </a:r>
          </a:p>
          <a:p>
            <a:pPr/>
            <a:r>
              <a:t>DOF_BETA2 (*) = -63.082199 da -64.409477</a:t>
            </a:r>
          </a:p>
          <a:p>
            <a:pPr/>
            <a:r>
              <a:t>DOF_W1 (*) = 0.164605 da 0.588428</a:t>
            </a:r>
          </a:p>
          <a:p>
            <a:pPr/>
            <a:r>
              <a:t>DOF_W2 (*) = 0.012302 da 0.072815</a:t>
            </a:r>
          </a:p>
          <a:p>
            <a:pPr/>
            <a:r>
              <a:t>DOF_RTE (*) = 0.001013 da 0.001241</a:t>
            </a:r>
          </a:p>
          <a:p>
            <a:pPr/>
            <a:r>
              <a:t>DOF_TMAXU (*) = 0.016676 da 0.014789</a:t>
            </a:r>
          </a:p>
          <a:p>
            <a:pPr/>
            <a:r>
              <a:t>DOF_TMAXL (*) = 0.006077 da 0.003738</a:t>
            </a:r>
          </a:p>
          <a:p>
            <a:pPr/>
            <a:r>
              <a:t>DOF_TMOVXU (*) = 0.084260 da 0.047238</a:t>
            </a:r>
          </a:p>
          <a:p>
            <a:pPr/>
            <a:r>
              <a:t>DOF_TMOVXL (*) = -0.028914 da -0.101828</a:t>
            </a:r>
          </a:p>
          <a:p>
            <a:pPr/>
            <a:r>
              <a:t>DOF_TUCP2 (*) = 0.316942 da 0.310676</a:t>
            </a:r>
          </a:p>
          <a:p>
            <a:pPr/>
            <a:r>
              <a:t>DOF_TUCP3 (*) = 0.690700 da 0.832884</a:t>
            </a:r>
          </a:p>
          <a:p>
            <a:pPr/>
            <a:r>
              <a:t>DOF_SUCP3 (*) = 0.120957 da 0.093616</a:t>
            </a:r>
          </a:p>
          <a:p>
            <a:pPr/>
            <a:r>
              <a:t>DOF_TUCP5 (*) = 0.564344 da 0.498199</a:t>
            </a:r>
          </a:p>
          <a:p>
            <a:pPr/>
            <a:r>
              <a:t>DOF_SUCP5 (*) = 0.601253 da 0.591599</a:t>
            </a:r>
          </a:p>
          <a:p>
            <a:pPr/>
            <a:r>
              <a:t>DOF_TLCP5 (*) = 0.503302 da 0.485828</a:t>
            </a:r>
          </a:p>
          <a:p>
            <a:pPr/>
            <a:r>
              <a:t>DOF_SLCP5 (*) = 0.509584 da 0.518265</a:t>
            </a:r>
          </a:p>
          <a:p>
            <a:pPr/>
            <a:r>
              <a:t>Deflessione (ε) = 81.164°</a:t>
            </a:r>
          </a:p>
          <a:p>
            <a:pPr/>
            <a:r>
              <a:t>Curvatura camber (θ) = 96.389°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OF Risultanti:</a:t>
            </a:r>
          </a:p>
          <a:p>
            <a:pPr/>
            <a:r>
              <a:t>OF_alfa_ex_FL = -61.164448 da -60.702000</a:t>
            </a:r>
          </a:p>
          <a:p>
            <a:pPr/>
            <a:r>
              <a:t>OF_Cpt_FL = 0.036663 da 0.045200</a:t>
            </a:r>
          </a:p>
          <a:p>
            <a:pPr/>
            <a:r>
              <a:t>OF_CSI_FL = 0.031335 da 0.040530</a:t>
            </a:r>
          </a:p>
          <a:p>
            <a:pPr/>
            <a:r>
              <a:t>OF_phi_FL = 0.705623 da 0.723085</a:t>
            </a:r>
          </a:p>
          <a:p>
            <a:pPr/>
            <a:r>
              <a:t>OF_psi_FL = 1.559729 da 1.577256</a:t>
            </a:r>
          </a:p>
          <a:p>
            <a:pPr/>
            <a:r>
              <a:t>OF_Zwc_FL = 0.897497 da 1.135337</a:t>
            </a:r>
          </a:p>
          <a:p>
            <a:pPr/>
            <a:r>
              <a:t>OF_DFss_mis_LO = 1.190952 da 1.291000</a:t>
            </a:r>
          </a:p>
          <a:p>
            <a:pPr/>
            <a:r>
              <a:t>OF_Ds_cp_LO = 1.774020 da 0.701600</a:t>
            </a:r>
          </a:p>
          <a:p>
            <a:pPr/>
            <a:r>
              <a:t>OF_Tmax_GM = 0.016598 da 0.016253</a:t>
            </a:r>
          </a:p>
          <a:p>
            <a:pPr/>
            <a:r>
              <a:t>OF_X_Tmax_GM = 0.277675 da 0.242935</a:t>
            </a:r>
          </a:p>
          <a:p>
            <a:pPr/>
            <a:r>
              <a:t>OF_Wedge_TE_GM = 6.841746 da 8.156338</a:t>
            </a:r>
          </a:p>
          <a:p>
            <a:pPr/>
            <a:r>
              <a:t>OF_UGT_GM = 23.445345 da 26.647480</a:t>
            </a:r>
          </a:p>
          <a:p>
            <a:pPr/>
            <a:r>
              <a:t>OF_Area_GM = 0.001361 da 0.001314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Miglior Profilo Ottimizzato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Action - Axial exit</a:t>
            </a:r>
          </a:p>
        </p:txBody>
      </p:sp>
      <p:pic>
        <p:nvPicPr>
          <p:cNvPr id="3" name="Picture 2" descr="smith_diagram_action_assi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6679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Action - Total to Total</a:t>
            </a:r>
          </a:p>
        </p:txBody>
      </p:sp>
      <p:pic>
        <p:nvPicPr>
          <p:cNvPr id="3" name="Picture 2" descr="smith_diagram_action_total_to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4987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Reaction - Total to Total</a:t>
            </a:r>
          </a:p>
        </p:txBody>
      </p:sp>
      <p:pic>
        <p:nvPicPr>
          <p:cNvPr id="3" name="Picture 2" descr="smith_diagram_reaction_total_to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5621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Reaction - Total to Total</a:t>
            </a:r>
          </a:p>
        </p:txBody>
      </p:sp>
      <p:pic>
        <p:nvPicPr>
          <p:cNvPr id="3" name="Picture 2" descr="smith_diagram_reaction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6803136" cy="5669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0</vt:i4>
      </vt:variant>
    </vt:vector>
  </HeadingPairs>
  <TitlesOfParts>
    <vt:vector size="6" baseType="lpstr">
      <vt:lpstr>Aptos</vt:lpstr>
      <vt:lpstr>Aptos Display</vt:lpstr>
      <vt:lpstr>Arial</vt:lpstr>
      <vt:lpstr>Catamaran</vt:lpstr>
      <vt:lpstr>Tema di Office</vt:lpstr>
      <vt:lpstr>Personalizza struttura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Giorgio Pecchiari</dc:creator>
  <cp:lastModifiedBy>Giorgio Pecchiari</cp:lastModifiedBy>
  <cp:revision>14</cp:revision>
  <dcterms:created xsi:type="dcterms:W3CDTF">2026-04-15T17:56:24Z</dcterms:created>
  <dcterms:modified xsi:type="dcterms:W3CDTF">2026-04-30T12:48:30Z</dcterms:modified>
</cp:coreProperties>
</file>