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3"/>
  </p:notesMasterIdLst>
  <p:sldIdLst>
    <p:sldId id="256" r:id="rId8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5033" autoAdjust="0"/>
  </p:normalViewPr>
  <p:slideViewPr>
    <p:cSldViewPr snapToGrid="0">
      <p:cViewPr varScale="1">
        <p:scale>
          <a:sx n="78" d="100"/>
          <a:sy n="78" d="100"/>
        </p:scale>
        <p:origin x="878" y="72"/>
      </p:cViewPr>
      <p:guideLst/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intestazion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3" name="Segnaposto data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C551717-2596-4457-9194-7AC0DCAC49F1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immagine diapositiva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it-IT"/>
          </a:p>
        </p:txBody>
      </p:sp>
      <p:sp>
        <p:nvSpPr>
          <p:cNvPr id="5" name="Segnaposto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6" name="Segnaposto piè di pagina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it-IT"/>
          </a:p>
        </p:txBody>
      </p:sp>
      <p:sp>
        <p:nvSpPr>
          <p:cNvPr id="7" name="Segnaposto numero diapositiva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C15F4FE-E259-4D0F-B379-AD2F71B92C84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7553475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ttangolo 6">
            <a:extLst>
              <a:ext uri="{FF2B5EF4-FFF2-40B4-BE49-F238E27FC236}">
                <a16:creationId xmlns:a16="http://schemas.microsoft.com/office/drawing/2014/main" id="{0FA9005B-2A59-AA8E-9AE1-7B75B5F9274F}"/>
              </a:ext>
            </a:extLst>
          </p:cNvPr>
          <p:cNvSpPr/>
          <p:nvPr userDrawn="1"/>
        </p:nvSpPr>
        <p:spPr>
          <a:xfrm>
            <a:off x="0" y="589936"/>
            <a:ext cx="12192000" cy="6268064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8" name="Titolo 1">
            <a:extLst>
              <a:ext uri="{FF2B5EF4-FFF2-40B4-BE49-F238E27FC236}">
                <a16:creationId xmlns:a16="http://schemas.microsoft.com/office/drawing/2014/main" id="{BB187E91-8E1B-0244-473B-366A531478F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60024" y="1113126"/>
            <a:ext cx="9993745" cy="2387600"/>
          </a:xfrm>
        </p:spPr>
        <p:txBody>
          <a:bodyPr/>
          <a:lstStyle>
            <a:lvl1pPr algn="ctr">
              <a:defRPr sz="5400"/>
            </a:lvl1pPr>
          </a:lstStyle>
          <a:p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9" name="Sottotitolo 2">
            <a:extLst>
              <a:ext uri="{FF2B5EF4-FFF2-40B4-BE49-F238E27FC236}">
                <a16:creationId xmlns:a16="http://schemas.microsoft.com/office/drawing/2014/main" id="{1143CC53-66B3-D2F6-34D6-A9420838EC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078182" y="3701843"/>
            <a:ext cx="7557431" cy="2763611"/>
          </a:xfrm>
        </p:spPr>
        <p:txBody>
          <a:bodyPr>
            <a:normAutofit fontScale="85000" lnSpcReduction="20000"/>
          </a:bodyPr>
          <a:lstStyle>
            <a:lvl1pPr algn="ctr">
              <a:buNone/>
              <a:defRPr/>
            </a:lvl1pPr>
          </a:lstStyle>
          <a:p>
            <a:pPr algn="l"/>
            <a:endParaRPr lang="it-IT" dirty="0">
              <a:latin typeface="Catamaran" panose="020B0604020202020204" charset="0"/>
              <a:cs typeface="Catamaran" panose="020B0604020202020204" charset="0"/>
            </a:endParaRPr>
          </a:p>
        </p:txBody>
      </p:sp>
      <p:sp>
        <p:nvSpPr>
          <p:cNvPr id="10" name="Rettangolo 9">
            <a:extLst>
              <a:ext uri="{FF2B5EF4-FFF2-40B4-BE49-F238E27FC236}">
                <a16:creationId xmlns:a16="http://schemas.microsoft.com/office/drawing/2014/main" id="{450EB309-34E9-F7EB-D07D-D21DD2AAD42F}"/>
              </a:ext>
            </a:extLst>
          </p:cNvPr>
          <p:cNvSpPr/>
          <p:nvPr userDrawn="1"/>
        </p:nvSpPr>
        <p:spPr>
          <a:xfrm>
            <a:off x="0" y="0"/>
            <a:ext cx="12192000" cy="589935"/>
          </a:xfrm>
          <a:prstGeom prst="rect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4828488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riangolo rettangolo 10">
            <a:extLst>
              <a:ext uri="{FF2B5EF4-FFF2-40B4-BE49-F238E27FC236}">
                <a16:creationId xmlns:a16="http://schemas.microsoft.com/office/drawing/2014/main" id="{F6450C9E-BD45-B287-6533-8DFCACD0E26A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12" name="Rettangolo 11">
            <a:extLst>
              <a:ext uri="{FF2B5EF4-FFF2-40B4-BE49-F238E27FC236}">
                <a16:creationId xmlns:a16="http://schemas.microsoft.com/office/drawing/2014/main" id="{04C6F734-0FED-D02A-60A4-E77C8FD1C1F1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3" name="Titolo 1">
            <a:extLst>
              <a:ext uri="{FF2B5EF4-FFF2-40B4-BE49-F238E27FC236}">
                <a16:creationId xmlns:a16="http://schemas.microsoft.com/office/drawing/2014/main" id="{FC68E3CD-1556-162D-015A-C68F2FBFD7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7" name="Segnaposto contenuto 2">
            <a:extLst>
              <a:ext uri="{FF2B5EF4-FFF2-40B4-BE49-F238E27FC236}">
                <a16:creationId xmlns:a16="http://schemas.microsoft.com/office/drawing/2014/main" id="{BC6F2179-6529-1A1F-7718-0E0AC272E1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31116843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riangolo rettangolo 6">
            <a:extLst>
              <a:ext uri="{FF2B5EF4-FFF2-40B4-BE49-F238E27FC236}">
                <a16:creationId xmlns:a16="http://schemas.microsoft.com/office/drawing/2014/main" id="{1FA1F2C5-7C62-F9BE-393E-E724B54416D2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8" name="Rettangolo 7">
            <a:extLst>
              <a:ext uri="{FF2B5EF4-FFF2-40B4-BE49-F238E27FC236}">
                <a16:creationId xmlns:a16="http://schemas.microsoft.com/office/drawing/2014/main" id="{55F243F3-13EE-C3E5-5E8A-834D39EE8484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9" name="Titolo 1">
            <a:extLst>
              <a:ext uri="{FF2B5EF4-FFF2-40B4-BE49-F238E27FC236}">
                <a16:creationId xmlns:a16="http://schemas.microsoft.com/office/drawing/2014/main" id="{1F5E66A5-C753-3CF1-E6DB-37B4DCB67D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0" name="Segnaposto contenuto 2">
            <a:extLst>
              <a:ext uri="{FF2B5EF4-FFF2-40B4-BE49-F238E27FC236}">
                <a16:creationId xmlns:a16="http://schemas.microsoft.com/office/drawing/2014/main" id="{E5E3F92E-6316-3317-61BC-706D42EA48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05690" y="1177735"/>
            <a:ext cx="11335327" cy="5102992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</p:spTree>
    <p:extLst>
      <p:ext uri="{BB962C8B-B14F-4D97-AF65-F5344CB8AC3E}">
        <p14:creationId xmlns:p14="http://schemas.microsoft.com/office/powerpoint/2010/main" val="6845814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riangolo rettangolo 7">
            <a:extLst>
              <a:ext uri="{FF2B5EF4-FFF2-40B4-BE49-F238E27FC236}">
                <a16:creationId xmlns:a16="http://schemas.microsoft.com/office/drawing/2014/main" id="{5F9FE27D-CD26-0AD3-5845-B6DD83D3C270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A5E02E2-CCC4-C909-286B-57DBA6DAAA6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553364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730E16D-F4C4-C40F-EBF9-6B48297681D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724024"/>
            <a:ext cx="5181600" cy="4713719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DEB7F23D-A67D-E9A8-3897-0B3E366FFDA8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8E9F3245-5EA1-15BC-B690-C94EEBA044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983863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ttangolo 14">
            <a:extLst>
              <a:ext uri="{FF2B5EF4-FFF2-40B4-BE49-F238E27FC236}">
                <a16:creationId xmlns:a16="http://schemas.microsoft.com/office/drawing/2014/main" id="{6C109CCD-6F29-4866-E2E5-5B2A89B6124F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6" name="Titolo 1">
            <a:extLst>
              <a:ext uri="{FF2B5EF4-FFF2-40B4-BE49-F238E27FC236}">
                <a16:creationId xmlns:a16="http://schemas.microsoft.com/office/drawing/2014/main" id="{16795F32-9ADB-2D6E-3F1A-6512925723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07721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  <p:sp>
        <p:nvSpPr>
          <p:cNvPr id="14" name="Triangolo rettangolo 13">
            <a:extLst>
              <a:ext uri="{FF2B5EF4-FFF2-40B4-BE49-F238E27FC236}">
                <a16:creationId xmlns:a16="http://schemas.microsoft.com/office/drawing/2014/main" id="{D3F72BC2-6546-9F4D-A2AF-34BD7BE556EF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850220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riangolo rettangolo 5">
            <a:extLst>
              <a:ext uri="{FF2B5EF4-FFF2-40B4-BE49-F238E27FC236}">
                <a16:creationId xmlns:a16="http://schemas.microsoft.com/office/drawing/2014/main" id="{3634C4AC-B083-7865-7373-2BEEECFF6606}"/>
              </a:ext>
            </a:extLst>
          </p:cNvPr>
          <p:cNvSpPr/>
          <p:nvPr userDrawn="1"/>
        </p:nvSpPr>
        <p:spPr>
          <a:xfrm>
            <a:off x="0" y="5780782"/>
            <a:ext cx="1602658" cy="1077218"/>
          </a:xfrm>
          <a:prstGeom prst="rtTriangle">
            <a:avLst/>
          </a:prstGeom>
          <a:solidFill>
            <a:srgbClr val="28B5E3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/>
          </a:p>
        </p:txBody>
      </p:sp>
      <p:sp>
        <p:nvSpPr>
          <p:cNvPr id="7" name="Segnaposto contenuto 2">
            <a:extLst>
              <a:ext uri="{FF2B5EF4-FFF2-40B4-BE49-F238E27FC236}">
                <a16:creationId xmlns:a16="http://schemas.microsoft.com/office/drawing/2014/main" id="{FAF007E3-8548-23AD-E33A-F398A0C9CDA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4236" y="1724025"/>
            <a:ext cx="5181600" cy="4713720"/>
          </a:xfrm>
        </p:spPr>
        <p:txBody>
          <a:bodyPr/>
          <a:lstStyle>
            <a:lvl1pPr>
              <a:buNone/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8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8" name="Segnaposto contenuto 3">
            <a:extLst>
              <a:ext uri="{FF2B5EF4-FFF2-40B4-BE49-F238E27FC236}">
                <a16:creationId xmlns:a16="http://schemas.microsoft.com/office/drawing/2014/main" id="{9529817C-9885-950C-E3F4-CC00D739176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66164" y="1132068"/>
            <a:ext cx="5181600" cy="5725932"/>
          </a:xfrm>
        </p:spPr>
        <p:txBody>
          <a:bodyPr/>
          <a:lstStyle>
            <a:lvl1pPr>
              <a:buNone/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1pPr>
            <a:lvl2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2pPr>
            <a:lvl3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3pPr>
            <a:lvl4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4pPr>
            <a:lvl5pPr>
              <a:defRPr sz="1600">
                <a:solidFill>
                  <a:schemeClr val="bg1">
                    <a:lumMod val="50000"/>
                  </a:schemeClr>
                </a:solidFill>
                <a:latin typeface="Catamaran" panose="020B0604020202020204"/>
              </a:defRPr>
            </a:lvl5pPr>
          </a:lstStyle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9" name="Rettangolo 8">
            <a:extLst>
              <a:ext uri="{FF2B5EF4-FFF2-40B4-BE49-F238E27FC236}">
                <a16:creationId xmlns:a16="http://schemas.microsoft.com/office/drawing/2014/main" id="{F3A4927F-775B-7D89-502B-DF81353EF685}"/>
              </a:ext>
            </a:extLst>
          </p:cNvPr>
          <p:cNvSpPr/>
          <p:nvPr userDrawn="1"/>
        </p:nvSpPr>
        <p:spPr>
          <a:xfrm>
            <a:off x="0" y="0"/>
            <a:ext cx="12192000" cy="1042219"/>
          </a:xfrm>
          <a:prstGeom prst="rect">
            <a:avLst/>
          </a:prstGeom>
          <a:solidFill>
            <a:srgbClr val="E9EDEE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it-IT" dirty="0"/>
          </a:p>
        </p:txBody>
      </p:sp>
      <p:sp>
        <p:nvSpPr>
          <p:cNvPr id="10" name="Titolo 1">
            <a:extLst>
              <a:ext uri="{FF2B5EF4-FFF2-40B4-BE49-F238E27FC236}">
                <a16:creationId xmlns:a16="http://schemas.microsoft.com/office/drawing/2014/main" id="{6571FF2B-5D2E-3081-AC66-F4B8BBA374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-58097"/>
            <a:ext cx="12191999" cy="1132068"/>
          </a:xfrm>
        </p:spPr>
        <p:txBody>
          <a:bodyPr>
            <a:normAutofit/>
          </a:bodyPr>
          <a:lstStyle>
            <a:lvl1pPr>
              <a:defRPr sz="2800">
                <a:latin typeface="Catamaran" panose="020B0604020202020204"/>
              </a:defRPr>
            </a:lvl1pPr>
          </a:lstStyle>
          <a:p>
            <a:endParaRPr lang="it-IT" sz="2800" dirty="0"/>
          </a:p>
        </p:txBody>
      </p:sp>
    </p:spTree>
    <p:extLst>
      <p:ext uri="{BB962C8B-B14F-4D97-AF65-F5344CB8AC3E}">
        <p14:creationId xmlns:p14="http://schemas.microsoft.com/office/powerpoint/2010/main" val="27271561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3D23AEED-4B56-6B24-5AC1-76C144F9B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345ECA5-7148-6535-6D45-D3C8BDF5B5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2B61C80E-69F5-F707-03EA-0633BD585F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2400416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26504FA-96CE-45AC-5D34-7CCED9F2DA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02C01D4-FBC7-9661-E6A1-7A11900B735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54077814-A0B6-1333-ACB7-0D9D5A4816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E128D4D9-4213-C067-0D47-9F05D7E395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46A23FFF-A8BA-E377-B142-532D2FD78CB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FFC447B9-2DFA-A874-8E43-098ADC131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547590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B796CF0-4C43-2D1C-BB1A-263E244968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11776006-AD0F-0CEB-EDEF-45140349911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E4DEFB1-68B7-E382-BADA-39EB502C208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9904E12F-688A-2F97-F724-DC4CF6C3EB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7D64CAD-F190-F120-974E-F473807EB08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E4547342-9181-09EE-B55A-F30C70C9E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2795132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C0EB114-6C37-E8CC-A193-F8D64F36C0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37CB3BAC-DEA8-23CC-BDB2-74B647B3CD4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0FB18F75-0A15-2FAA-1D3A-9D166821D19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215F215-8199-5B9C-DCD8-E588BB8D6F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709F3C3-435F-2A9F-01C4-74636074F8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430950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42FF0315-1C4D-9FE2-D876-D888C1B6373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A06CDC2E-055E-8780-05B8-7EA8608B569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B9E2A3E-E6CE-D516-EEEF-62194A336A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606994B0-0504-2398-8A81-94318066CDB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6822CE7A-332C-DDE9-BCD7-0A13CBB68FF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571035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74425F17-F280-B8D5-DCF7-C0E75C87704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B669485D-A22B-B1FE-0472-993FDBD929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C121B56-52E9-C6D6-7D9C-CF7C7C01F6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B383A8F-4A78-5535-4887-C369BC83AF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52B1BE79-8919-3560-9B03-FA6BD16879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996364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9616D81-2F08-AD64-70AD-A864185393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66881E8E-61F2-C515-3057-DC0C5F7D91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C29FB0FA-43B0-947F-7897-3540D6A45B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C69DA08-A9C6-EBAA-7224-C95ACA586F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B856C26-4250-B471-81C4-84316BF453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08763405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EE93357-2658-DB74-3E64-8B0BDDC2CB5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A0E0BF1-3E38-075C-B665-AF24D6F5EC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18E6818-D8D1-258D-DB4E-490079DFDD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1B2F335-2380-EA0E-2F23-BF197CE56A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3C52A8B-AEA5-6352-B6B4-BDD0B9755B0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53501759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82E3071-D044-BB23-51EE-E671D43DD2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E8757D96-1A5D-2E91-53AD-3E4547135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B49DF4EE-8378-B38C-A4C0-04448B913D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3CC211AC-484E-735A-B528-441FCB905FC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1348BBD6-0F4B-A53E-EBD9-1BF03F6758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BE5244DC-8D35-D045-C072-D36AFDACC8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0619725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58B3D89-6109-F772-D04F-ABBBD6D1FE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E807CC4-FB2B-2BFA-08BD-CD436387D50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E2925F81-20FF-8C32-3514-EB34B9DBBB8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0F4446DB-B88A-DBB9-A0A5-C88C1934C28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C3A6B48B-313D-6521-7C16-B3876BCE57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40381F6A-7C86-1E88-9939-F3B2F9FE15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C0E6FF4A-8374-AC02-73A7-C83B308AAE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A6D79162-DFE1-1A4F-FF9B-154F3EE39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600751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E038DECC-FBB4-7346-8EB0-DAFFC75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01F4F0F3-64CA-9C56-AAC6-63136D1A455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BFCC62D3-ABCE-0949-BF34-1C782807F2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9A75B398-CBCD-F30D-276E-A50BE82D165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348931225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43B6845A-D0CF-5554-244C-D90ACB7F47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80B100B6-B6D2-019D-E253-C693DE3903C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A87B19FA-DF7B-DA16-DB56-CC2ED29914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696162942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1BEB6F7-6E47-BFBD-39AA-8FFA1EE8D84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81483B04-91A4-44A7-7AB3-05B09C4067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796BB4-3AAE-B697-1820-6FAC5A71403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7CC6CF06-03BB-FDEF-2445-A60DBCBE1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BE97C6BF-B38D-2F58-9AA6-7BDF0E903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D58A490B-44D3-EC5D-291B-7DAFC6655C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843054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8551D9D-192C-C2A7-77D9-EE86CEE738D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A84C29A9-0EE5-5165-5199-50CE6E50704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712C24E4-C1CD-75EB-9FEF-5C4E545E530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FF52AFC8-5298-1992-C822-D5B184B434E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A5D5FE9D-4797-CF23-D9D4-71FB47F581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CE6852FB-9C9E-2EA4-04EB-C6FE2E1785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20910720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3A4BBF28-78E1-828B-A0A7-D370C87A3E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97166F2-C794-9B28-95CA-26C0A02923A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FF29DB03-6306-F6F8-6ED6-C1EE5B3364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151D1C84-F3B5-E661-AF18-D1FAF39893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30417700-FA19-9F34-9237-A28BC4AE13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67505446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2381892E-2BE6-AFB6-FBB6-C81089FECB5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D2C96AD7-56E4-AE7A-07EF-733E90B1EB4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AE6042AC-C8C7-9B09-6548-CA6A056153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7DFBE6EE-5BFC-CE40-4172-6604FFC8C4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1EB0C30-5DF2-7930-94B9-372A9AC52C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470534585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yout personalizza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8A194F2-52B3-26CE-07D7-F173C1BEED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26D221D5-0A92-9F24-DEBD-A3BCE62DF0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8EBEEEBB-8E50-359C-7FFF-8541107740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147A5640-8750-1366-B9E3-4DA068BF87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69282847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theme" Target="../theme/theme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DDC7DAA0-AB1C-137C-931D-D2D49BB2E3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 dirty="0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91128E91-99C7-0B38-0763-94BD6D6E515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 dirty="0"/>
              <a:t>Fare clic per modificare gli stili del testo dello schema</a:t>
            </a:r>
          </a:p>
          <a:p>
            <a:pPr lvl="1"/>
            <a:r>
              <a:rPr lang="it-IT" dirty="0"/>
              <a:t>Secondo livello</a:t>
            </a:r>
          </a:p>
          <a:p>
            <a:pPr lvl="2"/>
            <a:r>
              <a:rPr lang="it-IT" dirty="0"/>
              <a:t>Terzo livello</a:t>
            </a:r>
          </a:p>
          <a:p>
            <a:pPr lvl="3"/>
            <a:r>
              <a:rPr lang="it-IT" dirty="0"/>
              <a:t>Quarto livello</a:t>
            </a:r>
          </a:p>
          <a:p>
            <a:pPr lvl="4"/>
            <a:r>
              <a:rPr lang="it-IT" dirty="0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D7440F99-FCBA-6FE7-D189-D806877C416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6BE78BA-8D78-4733-ACEA-72405DD17743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31922ABE-DFF3-657B-2A69-32DA737EDC9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967ADC8-58CE-63D0-60D5-AB7DEC2437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F8E1C2D-6E6A-42B3-83D4-A7C5842082AD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93805418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2800" kern="1200">
          <a:solidFill>
            <a:schemeClr val="tx1"/>
          </a:solidFill>
          <a:latin typeface="Catamaran" panose="020B0604020202020204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Catamaran" panose="020B0604020202020204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6A91A497-0ABA-90E9-9CAD-9B805E874C4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168F7225-266C-6BA7-A886-F91E23F5A76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B4D2256E-3BAD-2343-03B7-5DAC7F32D60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B1C5607-A559-48AF-9A05-8D81345418F7}" type="datetimeFigureOut">
              <a:rPr lang="it-IT" smtClean="0"/>
              <a:t>30/04/2026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46BCCEB-F239-1A8F-E079-41C6A610424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28ECAC32-87B2-B11D-1FF7-5916185B1B1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A40945E-CD25-41FE-8A50-624443F0CE3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8620190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4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Ottimizzazione Riga Dataset: 710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Analisi pitch e beta1 e beta2 e w1 e w2 e tmovxu e tmovxl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Parametri PPO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/>
          <a:p>
            <a:r>
              <a:t>n_epochs = 10</a:t>
            </a:r>
          </a:p>
          <a:p>
            <a:r>
              <a:t>gamma = 0.99</a:t>
            </a:r>
          </a:p>
          <a:p>
            <a:r>
              <a:t>gae_lambda = 0.95</a:t>
            </a:r>
          </a:p>
          <a:p>
            <a:r>
              <a:t>clip_range = 0.2</a:t>
            </a:r>
          </a:p>
          <a:p>
            <a:r>
              <a:t>ent_coef = 0.01</a:t>
            </a:r>
          </a:p>
          <a:p>
            <a:r>
              <a:t>vf_coef = 0.5</a:t>
            </a:r>
          </a:p>
          <a:p>
            <a:r>
              <a:t>max_grad_norm = 0.5</a:t>
            </a:r>
          </a:p>
          <a:p>
            <a:r>
              <a:t>verbose = 1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N steps = 200</a:t>
            </a:r>
          </a:p>
          <a:p>
            <a:pPr/>
            <a:r>
              <a:t>Episode Length = 20</a:t>
            </a:r>
          </a:p>
          <a:p>
            <a:pPr/>
            <a:r>
              <a:t>Batch size = 64</a:t>
            </a:r>
          </a:p>
          <a:p>
            <a:pPr/>
            <a:r>
              <a:t>CSI Originale = 0.02107</a:t>
            </a:r>
          </a:p>
          <a:p>
            <a:pPr/>
            <a:r>
              <a:t>DOF attivi modificati:</a:t>
            </a:r>
          </a:p>
          <a:p>
            <a:pPr lvl="1"/>
            <a:r>
              <a:t>DOF_PITCH da 0.119155433 a 0.119</a:t>
            </a:r>
          </a:p>
          <a:p>
            <a:pPr lvl="1"/>
            <a:r>
              <a:t>DOF_BETA1 da 17.1936 a 17.194</a:t>
            </a:r>
          </a:p>
          <a:p>
            <a:pPr lvl="1"/>
            <a:r>
              <a:t>DOF_BETA2 da -63.05969 a -63.060</a:t>
            </a:r>
          </a:p>
          <a:p>
            <a:pPr lvl="1"/>
            <a:r>
              <a:t>DOF_W1 da 0.0105957 a 0.011</a:t>
            </a:r>
          </a:p>
          <a:p>
            <a:pPr lvl="1"/>
            <a:r>
              <a:t>DOF_W2 da 0.5900269 a 0.590</a:t>
            </a:r>
          </a:p>
          <a:p>
            <a:pPr lvl="1"/>
            <a:r>
              <a:t>DOF_TMOVXU da 0.1084625 a 0.108</a:t>
            </a:r>
          </a:p>
          <a:p>
            <a:pPr lvl="1"/>
            <a:r>
              <a:t>DOF_TMOVXL da 0.05621033 a 0.056</a:t>
            </a:r>
          </a:p>
          <a:p>
            <a:pPr/>
            <a:r>
              <a:t>CSI profilo modificato = None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  <a:p>
            <a:pPr/>
            <a:r>
              <a:t>Limiti operativi (DOF Bounds):</a:t>
            </a:r>
          </a:p>
          <a:p>
            <a:r>
              <a:t>DOF_PITCH = [0.084, 0.14]</a:t>
            </a:r>
          </a:p>
          <a:p>
            <a:r>
              <a:t>DOF_BETA1 = [0.034, 19.966]</a:t>
            </a:r>
          </a:p>
          <a:p>
            <a:r>
              <a:t>DOF_BETA2 = [-69.996, -60.121]</a:t>
            </a:r>
          </a:p>
          <a:p>
            <a:r>
              <a:t>DOF_W1 = [0.0, 0.745]</a:t>
            </a:r>
          </a:p>
          <a:p>
            <a:r>
              <a:t>DOF_W2 = [0.001, 0.999]</a:t>
            </a:r>
          </a:p>
          <a:p>
            <a:r>
              <a:t>DOF_TMOVXU = [-0.149, 0.199]</a:t>
            </a:r>
          </a:p>
          <a:p>
            <a:r>
              <a:t>DOF_TMOVXL = [-0.15, 0.2]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Punto di partenza simulazione con LR = 3e-05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Risultati</a:t>
            </a:r>
          </a:p>
        </p:txBody>
      </p:sp>
      <p:pic>
        <p:nvPicPr>
          <p:cNvPr id="3" name="Picture 2" descr="plot_resul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56054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31082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Andamento Valore Miglior DOF per episodio</a:t>
            </a:r>
          </a:p>
        </p:txBody>
      </p:sp>
      <p:pic>
        <p:nvPicPr>
          <p:cNvPr id="3" name="Picture 2" descr="plot_dof_evolution_bar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712978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Attore</a:t>
            </a:r>
          </a:p>
        </p:txBody>
      </p:sp>
      <p:pic>
        <p:nvPicPr>
          <p:cNvPr id="3" name="Picture 2" descr="plot_metrics_acto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005840"/>
            <a:ext cx="10849205" cy="5394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Metriche Critico</a:t>
            </a:r>
          </a:p>
        </p:txBody>
      </p:sp>
      <p:pic>
        <p:nvPicPr>
          <p:cNvPr id="3" name="Picture 2" descr="plot_metrics_criti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1371600"/>
            <a:ext cx="10360152" cy="386170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Content Placeholder 1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  <a:p>
            <a:pPr/>
            <a:r>
              <a:t>DOF Ottimali:</a:t>
            </a:r>
          </a:p>
          <a:p>
            <a:pPr/>
            <a:r>
              <a:t>DOF_PITCH (*) = 0.140000 da 0.119155</a:t>
            </a:r>
          </a:p>
          <a:p>
            <a:pPr/>
            <a:r>
              <a:t>DOF_BETA1 (*) = 19.966000 da 17.193600</a:t>
            </a:r>
          </a:p>
          <a:p>
            <a:pPr/>
            <a:r>
              <a:t>DOF_BETA2 (*) = -67.162384 da -63.059689</a:t>
            </a:r>
          </a:p>
          <a:p>
            <a:pPr/>
            <a:r>
              <a:t>DOF_W1 (*) = 0.000000 da 0.010596</a:t>
            </a:r>
          </a:p>
          <a:p>
            <a:pPr/>
            <a:r>
              <a:t>DOF_W2 (*) = 0.166678 da 0.590027</a:t>
            </a:r>
          </a:p>
          <a:p>
            <a:pPr/>
            <a:r>
              <a:t>DOF_TMOVXU (*) = 0.119175 da 0.108462</a:t>
            </a:r>
          </a:p>
          <a:p>
            <a:pPr/>
            <a:r>
              <a:t>DOF_TMOVXL (*) = -0.150000 da 0.056210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/>
            <a:r>
              <a:t>OF Risultanti:</a:t>
            </a:r>
          </a:p>
          <a:p>
            <a:pPr/>
            <a:r>
              <a:t>OF_alfa_ex = -60.912971 da -60.444000</a:t>
            </a:r>
          </a:p>
          <a:p>
            <a:pPr/>
            <a:r>
              <a:t>OF_Cpt = 0.022192 da 0.022570</a:t>
            </a:r>
          </a:p>
          <a:p>
            <a:pPr/>
            <a:r>
              <a:t>OF_CSI = 0.020530 da 0.021070</a:t>
            </a:r>
          </a:p>
          <a:p>
            <a:pPr/>
            <a:r>
              <a:t>OF_phi = 0.616945 da 0.630063</a:t>
            </a:r>
          </a:p>
          <a:p>
            <a:pPr/>
            <a:r>
              <a:t>OF_psi = 1.217280 da 1.222194</a:t>
            </a:r>
          </a:p>
          <a:p>
            <a:pPr/>
            <a:r>
              <a:t>OF_Zwi = 1.277629 da 1.128670</a:t>
            </a:r>
          </a:p>
          <a:p>
            <a:pPr/>
            <a:r>
              <a:t>OF_Zwc = 1.234972 da 1.078673</a:t>
            </a:r>
          </a:p>
          <a:p>
            <a:pPr/>
            <a:r>
              <a:t>OF_DFss_mis = 1.444756 da 1.314400</a:t>
            </a:r>
          </a:p>
          <a:p>
            <a:pPr/>
            <a:r>
              <a:t>OF_DFss_cp = 0.906977 da 0.931200</a:t>
            </a:r>
          </a:p>
          <a:p>
            <a:pPr/>
            <a:r>
              <a:t>OF_Mis_peak = 0.527961 da 0.501200</a:t>
            </a:r>
          </a:p>
          <a:p>
            <a:pPr/>
            <a:r>
              <a:t>OF_s_peak = 0.457981 da 0.484400</a:t>
            </a:r>
          </a:p>
          <a:p>
            <a:pPr/>
            <a:r>
              <a:t>OF_s_diff_dim = 0.083047 da 0.078650</a:t>
            </a:r>
          </a:p>
          <a:p>
            <a:pPr/>
            <a:r>
              <a:t>OF_s_tot_SS = 0.156653 da 0.152500</a:t>
            </a:r>
          </a:p>
          <a:p>
            <a:pPr/>
            <a:r>
              <a:t>OF_Tmax = 0.011874 da 0.012302</a:t>
            </a:r>
          </a:p>
          <a:p>
            <a:pPr/>
            <a:r>
              <a:t>OF_X_Tmax = 0.277011 da 0.296815</a:t>
            </a:r>
          </a:p>
        </p:txBody>
      </p:sp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Miglior Profilo Ottimizzato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Personalizza struttura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3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6504</TotalTime>
  <Words>0</Words>
  <Application>Microsoft Office PowerPoint</Application>
  <PresentationFormat>Widescreen</PresentationFormat>
  <Paragraphs>0</Paragraphs>
  <Slides>0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2</vt:i4>
      </vt:variant>
      <vt:variant>
        <vt:lpstr>Titoli diapositive</vt:lpstr>
      </vt:variant>
      <vt:variant>
        <vt:i4>0</vt:i4>
      </vt:variant>
    </vt:vector>
  </HeadingPairs>
  <TitlesOfParts>
    <vt:vector size="6" baseType="lpstr">
      <vt:lpstr>Aptos</vt:lpstr>
      <vt:lpstr>Aptos Display</vt:lpstr>
      <vt:lpstr>Arial</vt:lpstr>
      <vt:lpstr>Catamaran</vt:lpstr>
      <vt:lpstr>Tema di Office</vt:lpstr>
      <vt:lpstr>Personalizza struttura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Giorgio Pecchiari</dc:creator>
  <cp:lastModifiedBy>Giorgio Pecchiari</cp:lastModifiedBy>
  <cp:revision>14</cp:revision>
  <dcterms:created xsi:type="dcterms:W3CDTF">2026-04-15T17:56:24Z</dcterms:created>
  <dcterms:modified xsi:type="dcterms:W3CDTF">2026-04-30T12:48:30Z</dcterms:modified>
</cp:coreProperties>
</file>